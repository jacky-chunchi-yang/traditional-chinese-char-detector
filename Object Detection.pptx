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72aef15f2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72aef15f2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72aef15f2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72aef15f2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72aef15f2f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72aef15f2f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72aef15f2f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72aef15f2f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e20cf47fb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e20cf47fb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There are two criteria to check whether the prediction results are correct </a:t>
            </a:r>
            <a:endParaRPr/>
          </a:p>
          <a:p>
            <a:pPr indent="0" lvl="0" marL="0" rtl="0" algn="l">
              <a:spcBef>
                <a:spcPts val="0"/>
              </a:spcBef>
              <a:spcAft>
                <a:spcPts val="0"/>
              </a:spcAft>
              <a:buClr>
                <a:schemeClr val="dk1"/>
              </a:buClr>
              <a:buSzPts val="1100"/>
              <a:buFont typeface="Arial"/>
              <a:buNone/>
            </a:pPr>
            <a:r>
              <a:rPr lang="zh-TW"/>
              <a:t>1. IoU score must be greater than 0.5 </a:t>
            </a:r>
            <a:endParaRPr/>
          </a:p>
          <a:p>
            <a:pPr indent="0" lvl="0" marL="0" rtl="0" algn="l">
              <a:spcBef>
                <a:spcPts val="0"/>
              </a:spcBef>
              <a:spcAft>
                <a:spcPts val="0"/>
              </a:spcAft>
              <a:buClr>
                <a:schemeClr val="dk1"/>
              </a:buClr>
              <a:buSzPts val="1100"/>
              <a:buFont typeface="Arial"/>
              <a:buNone/>
            </a:pPr>
            <a:r>
              <a:rPr lang="zh-TW"/>
              <a:t>2. The number of words must be exactly the same as the read word count</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72aef15f2f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72aef15f2f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72aef15f2f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72aef15f2f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e20cf47fb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e20cf47fb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e20cf47fb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e20cf47fb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e20cf47fb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e20cf47fb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72aef15f2f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72aef15f2f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72aef15f2f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72aef15f2f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72aef15f2f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72aef15f2f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72aef15f2f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72aef15f2f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20cf47fb6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e20cf47fb6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11.jpg"/><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930350" y="1335000"/>
            <a:ext cx="5283300" cy="153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5400">
                <a:solidFill>
                  <a:schemeClr val="dk1"/>
                </a:solidFill>
              </a:rPr>
              <a:t>Object Detection </a:t>
            </a:r>
            <a:endParaRPr sz="5400">
              <a:solidFill>
                <a:schemeClr val="dk1"/>
              </a:solidFill>
            </a:endParaRPr>
          </a:p>
          <a:p>
            <a:pPr indent="0" lvl="0" marL="0" rtl="0" algn="ctr">
              <a:spcBef>
                <a:spcPts val="0"/>
              </a:spcBef>
              <a:spcAft>
                <a:spcPts val="0"/>
              </a:spcAft>
              <a:buNone/>
            </a:pPr>
            <a:r>
              <a:rPr lang="zh-TW" sz="5400">
                <a:solidFill>
                  <a:schemeClr val="dk1"/>
                </a:solidFill>
              </a:rPr>
              <a:t>of three class</a:t>
            </a:r>
            <a:endParaRPr sz="5000">
              <a:solidFill>
                <a:schemeClr val="dk2"/>
              </a:solidFill>
            </a:endParaRPr>
          </a:p>
        </p:txBody>
      </p:sp>
      <p:sp>
        <p:nvSpPr>
          <p:cNvPr id="55" name="Google Shape;55;p13"/>
          <p:cNvSpPr txBox="1"/>
          <p:nvPr/>
        </p:nvSpPr>
        <p:spPr>
          <a:xfrm>
            <a:off x="6254800" y="4191000"/>
            <a:ext cx="2755800" cy="7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1800">
                <a:solidFill>
                  <a:schemeClr val="dk1"/>
                </a:solidFill>
              </a:rPr>
              <a:t>施彥頡Jay D1171462</a:t>
            </a:r>
            <a:endParaRPr sz="1800">
              <a:solidFill>
                <a:schemeClr val="dk1"/>
              </a:solidFill>
            </a:endParaRPr>
          </a:p>
          <a:p>
            <a:pPr indent="0" lvl="0" marL="0" rtl="0" algn="ctr">
              <a:spcBef>
                <a:spcPts val="0"/>
              </a:spcBef>
              <a:spcAft>
                <a:spcPts val="0"/>
              </a:spcAft>
              <a:buNone/>
            </a:pPr>
            <a:r>
              <a:rPr lang="zh-TW" sz="1800">
                <a:solidFill>
                  <a:schemeClr val="dk1"/>
                </a:solidFill>
              </a:rPr>
              <a:t>楊駿騏Jacky D1166905</a:t>
            </a:r>
            <a:endParaRPr sz="1800">
              <a:solidFill>
                <a:schemeClr val="dk1"/>
              </a:solidFill>
            </a:endParaRPr>
          </a:p>
          <a:p>
            <a:pPr indent="0" lvl="0" marL="0" rtl="0" algn="ctr">
              <a:spcBef>
                <a:spcPts val="0"/>
              </a:spcBef>
              <a:spcAft>
                <a:spcPts val="0"/>
              </a:spcAft>
              <a:buNone/>
            </a:pPr>
            <a:r>
              <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Motivation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zh-TW">
                <a:solidFill>
                  <a:schemeClr val="dk1"/>
                </a:solidFill>
              </a:rPr>
              <a:t> </a:t>
            </a:r>
            <a:r>
              <a:rPr lang="zh-TW">
                <a:solidFill>
                  <a:schemeClr val="dk1"/>
                </a:solidFill>
              </a:rPr>
              <a:t>I believe that everyone who grew up under the Taiwanese education system has the same experience. In the past, the first three questions in the Chinese language test were given to four characters that seem to have similar pronunciation, and then you have to choose a different one. I think this is The most difficult and unnecessary questions in the Chinese language exam, so I want to write a program to solve these questions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Proposed method</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zh-TW"/>
              <a:t>Initially, the quality of our database was poor after resizing, and some images were on paper with grids or stripes, or the color of the text was too similar to the color of the paper. These issues made it difficult for the program to recognize the characters. After removing these problematic photos and adding more high-quality and clearly visible data (without resizing), the accuracy improved to around 80% to 85%. We then started examining the misclassified test data and conditionally adding more training data (for example, adding more "垚" data if it had more errors). This approach led to a significant improvement in accuracy, which stabilized between 97% and 100%.</a:t>
            </a:r>
            <a:endParaRPr/>
          </a:p>
          <a:p>
            <a:pPr indent="0" lvl="0" marL="0" rtl="0" algn="l">
              <a:spcBef>
                <a:spcPts val="1200"/>
              </a:spcBef>
              <a:spcAft>
                <a:spcPts val="1200"/>
              </a:spcAft>
              <a:buNone/>
            </a:pPr>
            <a:r>
              <a:t/>
            </a:r>
            <a:endParaRPr/>
          </a:p>
        </p:txBody>
      </p:sp>
      <p:pic>
        <p:nvPicPr>
          <p:cNvPr id="68" name="Google Shape;68;p15"/>
          <p:cNvPicPr preferRelativeResize="0"/>
          <p:nvPr/>
        </p:nvPicPr>
        <p:blipFill>
          <a:blip r:embed="rId3">
            <a:alphaModFix/>
          </a:blip>
          <a:stretch>
            <a:fillRect/>
          </a:stretch>
        </p:blipFill>
        <p:spPr>
          <a:xfrm>
            <a:off x="7543800" y="3538187"/>
            <a:ext cx="1163625" cy="1163625"/>
          </a:xfrm>
          <a:prstGeom prst="rect">
            <a:avLst/>
          </a:prstGeom>
          <a:noFill/>
          <a:ln>
            <a:noFill/>
          </a:ln>
        </p:spPr>
      </p:pic>
      <p:pic>
        <p:nvPicPr>
          <p:cNvPr id="69" name="Google Shape;69;p15"/>
          <p:cNvPicPr preferRelativeResize="0"/>
          <p:nvPr/>
        </p:nvPicPr>
        <p:blipFill>
          <a:blip r:embed="rId4">
            <a:alphaModFix/>
          </a:blip>
          <a:stretch>
            <a:fillRect/>
          </a:stretch>
        </p:blipFill>
        <p:spPr>
          <a:xfrm>
            <a:off x="6218974" y="3585736"/>
            <a:ext cx="1068550" cy="1068550"/>
          </a:xfrm>
          <a:prstGeom prst="rect">
            <a:avLst/>
          </a:prstGeom>
          <a:noFill/>
          <a:ln>
            <a:noFill/>
          </a:ln>
        </p:spPr>
      </p:pic>
      <p:pic>
        <p:nvPicPr>
          <p:cNvPr id="70" name="Google Shape;70;p15"/>
          <p:cNvPicPr preferRelativeResize="0"/>
          <p:nvPr/>
        </p:nvPicPr>
        <p:blipFill>
          <a:blip r:embed="rId5">
            <a:alphaModFix/>
          </a:blip>
          <a:stretch>
            <a:fillRect/>
          </a:stretch>
        </p:blipFill>
        <p:spPr>
          <a:xfrm>
            <a:off x="4951969" y="3585724"/>
            <a:ext cx="1163625" cy="1163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00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Code (Train)</a:t>
            </a:r>
            <a:endParaRPr/>
          </a:p>
        </p:txBody>
      </p:sp>
      <p:pic>
        <p:nvPicPr>
          <p:cNvPr id="76" name="Google Shape;76;p16"/>
          <p:cNvPicPr preferRelativeResize="0"/>
          <p:nvPr/>
        </p:nvPicPr>
        <p:blipFill>
          <a:blip r:embed="rId3">
            <a:alphaModFix/>
          </a:blip>
          <a:stretch>
            <a:fillRect/>
          </a:stretch>
        </p:blipFill>
        <p:spPr>
          <a:xfrm>
            <a:off x="526225" y="1533325"/>
            <a:ext cx="8091551" cy="23675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Result</a:t>
            </a:r>
            <a:endParaRPr/>
          </a:p>
        </p:txBody>
      </p:sp>
      <p:pic>
        <p:nvPicPr>
          <p:cNvPr id="82" name="Google Shape;82;p17"/>
          <p:cNvPicPr preferRelativeResize="0"/>
          <p:nvPr/>
        </p:nvPicPr>
        <p:blipFill>
          <a:blip r:embed="rId3">
            <a:alphaModFix/>
          </a:blip>
          <a:stretch>
            <a:fillRect/>
          </a:stretch>
        </p:blipFill>
        <p:spPr>
          <a:xfrm>
            <a:off x="1454388" y="1017725"/>
            <a:ext cx="6235221" cy="38209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Accuracy</a:t>
            </a:r>
            <a:endParaRPr/>
          </a:p>
        </p:txBody>
      </p:sp>
      <p:pic>
        <p:nvPicPr>
          <p:cNvPr id="88" name="Google Shape;88;p18"/>
          <p:cNvPicPr preferRelativeResize="0"/>
          <p:nvPr/>
        </p:nvPicPr>
        <p:blipFill>
          <a:blip r:embed="rId3">
            <a:alphaModFix/>
          </a:blip>
          <a:stretch>
            <a:fillRect/>
          </a:stretch>
        </p:blipFill>
        <p:spPr>
          <a:xfrm>
            <a:off x="1179025" y="1128526"/>
            <a:ext cx="6785952" cy="3464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9"/>
          <p:cNvPicPr preferRelativeResize="0"/>
          <p:nvPr/>
        </p:nvPicPr>
        <p:blipFill rotWithShape="1">
          <a:blip r:embed="rId3">
            <a:alphaModFix/>
          </a:blip>
          <a:srcRect b="38879" l="0" r="0" t="0"/>
          <a:stretch/>
        </p:blipFill>
        <p:spPr>
          <a:xfrm>
            <a:off x="134175" y="957850"/>
            <a:ext cx="4070076" cy="3227800"/>
          </a:xfrm>
          <a:prstGeom prst="rect">
            <a:avLst/>
          </a:prstGeom>
          <a:noFill/>
          <a:ln>
            <a:noFill/>
          </a:ln>
        </p:spPr>
      </p:pic>
      <p:pic>
        <p:nvPicPr>
          <p:cNvPr id="94" name="Google Shape;94;p19"/>
          <p:cNvPicPr preferRelativeResize="0"/>
          <p:nvPr/>
        </p:nvPicPr>
        <p:blipFill>
          <a:blip r:embed="rId4">
            <a:alphaModFix/>
          </a:blip>
          <a:stretch>
            <a:fillRect/>
          </a:stretch>
        </p:blipFill>
        <p:spPr>
          <a:xfrm>
            <a:off x="4372000" y="1454675"/>
            <a:ext cx="4668576" cy="2234125"/>
          </a:xfrm>
          <a:prstGeom prst="rect">
            <a:avLst/>
          </a:prstGeom>
          <a:noFill/>
          <a:ln>
            <a:noFill/>
          </a:ln>
        </p:spPr>
      </p:pic>
      <p:sp>
        <p:nvSpPr>
          <p:cNvPr id="95" name="Google Shape;95;p19"/>
          <p:cNvSpPr txBox="1"/>
          <p:nvPr/>
        </p:nvSpPr>
        <p:spPr>
          <a:xfrm>
            <a:off x="335450" y="268350"/>
            <a:ext cx="3388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800">
                <a:solidFill>
                  <a:schemeClr val="dk1"/>
                </a:solidFill>
              </a:rPr>
              <a:t>Code(Accuracy)</a:t>
            </a:r>
            <a:endParaRPr sz="2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221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Error Image</a:t>
            </a:r>
            <a:endParaRPr/>
          </a:p>
        </p:txBody>
      </p:sp>
      <p:pic>
        <p:nvPicPr>
          <p:cNvPr id="101" name="Google Shape;101;p20"/>
          <p:cNvPicPr preferRelativeResize="0"/>
          <p:nvPr/>
        </p:nvPicPr>
        <p:blipFill>
          <a:blip r:embed="rId3">
            <a:alphaModFix/>
          </a:blip>
          <a:stretch>
            <a:fillRect/>
          </a:stretch>
        </p:blipFill>
        <p:spPr>
          <a:xfrm>
            <a:off x="2116073" y="794088"/>
            <a:ext cx="4911851" cy="42909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Solution</a:t>
            </a:r>
            <a:endParaRPr/>
          </a:p>
        </p:txBody>
      </p:sp>
      <p:pic>
        <p:nvPicPr>
          <p:cNvPr id="107" name="Google Shape;107;p21"/>
          <p:cNvPicPr preferRelativeResize="0"/>
          <p:nvPr/>
        </p:nvPicPr>
        <p:blipFill>
          <a:blip r:embed="rId3">
            <a:alphaModFix/>
          </a:blip>
          <a:stretch>
            <a:fillRect/>
          </a:stretch>
        </p:blipFill>
        <p:spPr>
          <a:xfrm>
            <a:off x="311688" y="1017726"/>
            <a:ext cx="5660826" cy="3864351"/>
          </a:xfrm>
          <a:prstGeom prst="rect">
            <a:avLst/>
          </a:prstGeom>
          <a:noFill/>
          <a:ln>
            <a:noFill/>
          </a:ln>
        </p:spPr>
      </p:pic>
      <p:sp>
        <p:nvSpPr>
          <p:cNvPr id="108" name="Google Shape;108;p21"/>
          <p:cNvSpPr txBox="1"/>
          <p:nvPr/>
        </p:nvSpPr>
        <p:spPr>
          <a:xfrm>
            <a:off x="5972525" y="1017725"/>
            <a:ext cx="2868900" cy="3641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AutoNum type="arabicPeriod"/>
            </a:pPr>
            <a:r>
              <a:rPr lang="zh-TW" sz="1800">
                <a:solidFill>
                  <a:schemeClr val="dk1"/>
                </a:solidFill>
              </a:rPr>
              <a:t>To compare the blocks,  if there are two blocks are too close, then only keep the higher predicted score one</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zh-TW" sz="1800">
                <a:solidFill>
                  <a:schemeClr val="dk1"/>
                </a:solidFill>
              </a:rPr>
              <a:t>The predicted correct block score is higher than 95%. So we can delete the block if the score is lower than 0.75</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Result </a:t>
            </a:r>
            <a:endParaRPr/>
          </a:p>
        </p:txBody>
      </p:sp>
      <p:pic>
        <p:nvPicPr>
          <p:cNvPr id="114" name="Google Shape;114;p22"/>
          <p:cNvPicPr preferRelativeResize="0"/>
          <p:nvPr/>
        </p:nvPicPr>
        <p:blipFill>
          <a:blip r:embed="rId3">
            <a:alphaModFix/>
          </a:blip>
          <a:stretch>
            <a:fillRect/>
          </a:stretch>
        </p:blipFill>
        <p:spPr>
          <a:xfrm>
            <a:off x="2025050" y="1204975"/>
            <a:ext cx="5170800" cy="3529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Code (delete the block)</a:t>
            </a:r>
            <a:endParaRPr/>
          </a:p>
        </p:txBody>
      </p:sp>
      <p:pic>
        <p:nvPicPr>
          <p:cNvPr id="120" name="Google Shape;120;p23"/>
          <p:cNvPicPr preferRelativeResize="0"/>
          <p:nvPr/>
        </p:nvPicPr>
        <p:blipFill rotWithShape="1">
          <a:blip r:embed="rId3">
            <a:alphaModFix/>
          </a:blip>
          <a:srcRect b="0" l="1516" r="0" t="0"/>
          <a:stretch/>
        </p:blipFill>
        <p:spPr>
          <a:xfrm>
            <a:off x="2003113" y="1017725"/>
            <a:ext cx="5137774" cy="3749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nvSpPr>
        <p:spPr>
          <a:xfrm>
            <a:off x="2297700" y="1983750"/>
            <a:ext cx="4548600" cy="117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TW" sz="5000">
                <a:solidFill>
                  <a:schemeClr val="dk1"/>
                </a:solidFill>
              </a:rPr>
              <a:t>Demostration</a:t>
            </a:r>
            <a:endParaRPr b="1" sz="50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a:t>
            </a:r>
            <a:r>
              <a:rPr lang="zh-TW"/>
              <a:t>omparison with google</a:t>
            </a:r>
            <a:endParaRPr/>
          </a:p>
        </p:txBody>
      </p:sp>
      <p:pic>
        <p:nvPicPr>
          <p:cNvPr id="131" name="Google Shape;131;p25"/>
          <p:cNvPicPr preferRelativeResize="0"/>
          <p:nvPr/>
        </p:nvPicPr>
        <p:blipFill>
          <a:blip r:embed="rId3">
            <a:alphaModFix/>
          </a:blip>
          <a:stretch>
            <a:fillRect/>
          </a:stretch>
        </p:blipFill>
        <p:spPr>
          <a:xfrm>
            <a:off x="823200" y="1152475"/>
            <a:ext cx="5004601" cy="3416401"/>
          </a:xfrm>
          <a:prstGeom prst="rect">
            <a:avLst/>
          </a:prstGeom>
          <a:noFill/>
          <a:ln>
            <a:noFill/>
          </a:ln>
        </p:spPr>
      </p:pic>
      <p:pic>
        <p:nvPicPr>
          <p:cNvPr id="132" name="Google Shape;132;p25"/>
          <p:cNvPicPr preferRelativeResize="0"/>
          <p:nvPr/>
        </p:nvPicPr>
        <p:blipFill>
          <a:blip r:embed="rId4">
            <a:alphaModFix/>
          </a:blip>
          <a:stretch>
            <a:fillRect/>
          </a:stretch>
        </p:blipFill>
        <p:spPr>
          <a:xfrm>
            <a:off x="5980201" y="1170125"/>
            <a:ext cx="1764962" cy="38209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Comparison with google</a:t>
            </a:r>
            <a:endParaRPr/>
          </a:p>
        </p:txBody>
      </p:sp>
      <p:pic>
        <p:nvPicPr>
          <p:cNvPr id="138" name="Google Shape;138;p26"/>
          <p:cNvPicPr preferRelativeResize="0"/>
          <p:nvPr/>
        </p:nvPicPr>
        <p:blipFill>
          <a:blip r:embed="rId3">
            <a:alphaModFix/>
          </a:blip>
          <a:stretch>
            <a:fillRect/>
          </a:stretch>
        </p:blipFill>
        <p:spPr>
          <a:xfrm>
            <a:off x="836550" y="1017725"/>
            <a:ext cx="2441700" cy="3490098"/>
          </a:xfrm>
          <a:prstGeom prst="rect">
            <a:avLst/>
          </a:prstGeom>
          <a:noFill/>
          <a:ln>
            <a:noFill/>
          </a:ln>
        </p:spPr>
      </p:pic>
      <p:pic>
        <p:nvPicPr>
          <p:cNvPr id="139" name="Google Shape;139;p26"/>
          <p:cNvPicPr preferRelativeResize="0"/>
          <p:nvPr/>
        </p:nvPicPr>
        <p:blipFill>
          <a:blip r:embed="rId4">
            <a:alphaModFix/>
          </a:blip>
          <a:stretch>
            <a:fillRect/>
          </a:stretch>
        </p:blipFill>
        <p:spPr>
          <a:xfrm>
            <a:off x="4935265" y="903700"/>
            <a:ext cx="1876661" cy="406280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Conclusion</a:t>
            </a:r>
            <a:endParaRPr/>
          </a:p>
        </p:txBody>
      </p:sp>
      <p:sp>
        <p:nvSpPr>
          <p:cNvPr id="145" name="Google Shape;145;p27"/>
          <p:cNvSpPr txBox="1"/>
          <p:nvPr>
            <p:ph idx="1" type="body"/>
          </p:nvPr>
        </p:nvSpPr>
        <p:spPr>
          <a:xfrm>
            <a:off x="311700" y="1152475"/>
            <a:ext cx="8588400" cy="37179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Clr>
                <a:schemeClr val="dk1"/>
              </a:buClr>
              <a:buSzPct val="28888"/>
              <a:buFont typeface="Arial"/>
              <a:buNone/>
            </a:pPr>
            <a:r>
              <a:rPr lang="zh-TW" sz="3807">
                <a:solidFill>
                  <a:schemeClr val="dk1"/>
                </a:solidFill>
              </a:rPr>
              <a:t>1. Educational purposes: </a:t>
            </a:r>
            <a:endParaRPr sz="3807">
              <a:solidFill>
                <a:schemeClr val="dk1"/>
              </a:solidFill>
            </a:endParaRPr>
          </a:p>
          <a:p>
            <a:pPr indent="0" lvl="0" marL="0" rtl="0" algn="l">
              <a:spcBef>
                <a:spcPts val="1200"/>
              </a:spcBef>
              <a:spcAft>
                <a:spcPts val="0"/>
              </a:spcAft>
              <a:buClr>
                <a:schemeClr val="dk1"/>
              </a:buClr>
              <a:buSzPct val="28888"/>
              <a:buFont typeface="Arial"/>
              <a:buNone/>
            </a:pPr>
            <a:r>
              <a:rPr lang="zh-TW" sz="3807">
                <a:solidFill>
                  <a:schemeClr val="dk1"/>
                </a:solidFill>
              </a:rPr>
              <a:t>The technology for identifying Traditional Chinese characters can be used in the field of education to help students better learn the Mandarin Phonetic Symbols (MPS) of the characters and understand Traditional Chinese and improve learning efficiency. And it can also help teachers judge students’ homework books.</a:t>
            </a:r>
            <a:endParaRPr sz="3807">
              <a:solidFill>
                <a:schemeClr val="dk1"/>
              </a:solidFill>
            </a:endParaRPr>
          </a:p>
          <a:p>
            <a:pPr indent="0" lvl="0" marL="0" rtl="0" algn="l">
              <a:spcBef>
                <a:spcPts val="1200"/>
              </a:spcBef>
              <a:spcAft>
                <a:spcPts val="0"/>
              </a:spcAft>
              <a:buClr>
                <a:schemeClr val="dk1"/>
              </a:buClr>
              <a:buSzPct val="28888"/>
              <a:buFont typeface="Arial"/>
              <a:buNone/>
            </a:pPr>
            <a:r>
              <a:rPr lang="zh-TW" sz="3807">
                <a:solidFill>
                  <a:schemeClr val="dk1"/>
                </a:solidFill>
              </a:rPr>
              <a:t>2. Intercultural Communication:</a:t>
            </a:r>
            <a:endParaRPr sz="3807">
              <a:solidFill>
                <a:schemeClr val="dk1"/>
              </a:solidFill>
            </a:endParaRPr>
          </a:p>
          <a:p>
            <a:pPr indent="0" lvl="0" marL="0" rtl="0" algn="l">
              <a:spcBef>
                <a:spcPts val="1200"/>
              </a:spcBef>
              <a:spcAft>
                <a:spcPts val="0"/>
              </a:spcAft>
              <a:buClr>
                <a:schemeClr val="dk1"/>
              </a:buClr>
              <a:buSzPct val="28888"/>
              <a:buFont typeface="Arial"/>
              <a:buNone/>
            </a:pPr>
            <a:r>
              <a:rPr lang="zh-TW" sz="3807">
                <a:solidFill>
                  <a:schemeClr val="dk1"/>
                </a:solidFill>
              </a:rPr>
              <a:t>For non-native Chinese speakers, understanding Traditional Chinese may be </a:t>
            </a:r>
            <a:endParaRPr sz="3807">
              <a:solidFill>
                <a:schemeClr val="dk1"/>
              </a:solidFill>
            </a:endParaRPr>
          </a:p>
          <a:p>
            <a:pPr indent="0" lvl="0" marL="0" rtl="0" algn="l">
              <a:spcBef>
                <a:spcPts val="1200"/>
              </a:spcBef>
              <a:spcAft>
                <a:spcPts val="0"/>
              </a:spcAft>
              <a:buClr>
                <a:schemeClr val="dk1"/>
              </a:buClr>
              <a:buSzPct val="28888"/>
              <a:buFont typeface="Arial"/>
              <a:buNone/>
            </a:pPr>
            <a:r>
              <a:rPr lang="zh-TW" sz="3807">
                <a:solidFill>
                  <a:schemeClr val="dk1"/>
                </a:solidFill>
              </a:rPr>
              <a:t>difficult. This program can help them better understand and learn Traditional </a:t>
            </a:r>
            <a:endParaRPr sz="3807">
              <a:solidFill>
                <a:schemeClr val="dk1"/>
              </a:solidFill>
            </a:endParaRPr>
          </a:p>
          <a:p>
            <a:pPr indent="0" lvl="0" marL="0" rtl="0" algn="l">
              <a:spcBef>
                <a:spcPts val="1200"/>
              </a:spcBef>
              <a:spcAft>
                <a:spcPts val="0"/>
              </a:spcAft>
              <a:buClr>
                <a:schemeClr val="dk1"/>
              </a:buClr>
              <a:buSzPct val="28888"/>
              <a:buFont typeface="Arial"/>
              <a:buNone/>
            </a:pPr>
            <a:r>
              <a:rPr lang="zh-TW" sz="3807">
                <a:solidFill>
                  <a:schemeClr val="dk1"/>
                </a:solidFill>
              </a:rPr>
              <a:t>Chinese and promote cross-cultural communication.</a:t>
            </a:r>
            <a:endParaRPr sz="3807">
              <a:solidFill>
                <a:schemeClr val="dk1"/>
              </a:solidFill>
            </a:endParaRPr>
          </a:p>
          <a:p>
            <a:pPr indent="0" lvl="0" marL="0" rtl="0" algn="l">
              <a:spcBef>
                <a:spcPts val="1200"/>
              </a:spcBef>
              <a:spcAft>
                <a:spcPts val="0"/>
              </a:spcAft>
              <a:buClr>
                <a:schemeClr val="dk1"/>
              </a:buClr>
              <a:buSzPct val="61111"/>
              <a:buFont typeface="Arial"/>
              <a:buNone/>
            </a:pPr>
            <a:r>
              <a:t/>
            </a:r>
            <a:endParaRPr>
              <a:solidFill>
                <a:schemeClr val="dk1"/>
              </a:solidFill>
            </a:endParaRPr>
          </a:p>
          <a:p>
            <a:pPr indent="0" lvl="0" marL="0" rtl="0" algn="l">
              <a:spcBef>
                <a:spcPts val="1200"/>
              </a:spcBef>
              <a:spcAft>
                <a:spcPts val="0"/>
              </a:spcAft>
              <a:buClr>
                <a:schemeClr val="dk1"/>
              </a:buClr>
              <a:buSzPct val="61111"/>
              <a:buFont typeface="Arial"/>
              <a:buNone/>
            </a:pPr>
            <a:r>
              <a:t/>
            </a:r>
            <a:endParaRPr>
              <a:solidFill>
                <a:schemeClr val="dk1"/>
              </a:solidFill>
            </a:endParaRPr>
          </a:p>
          <a:p>
            <a:pPr indent="0" lvl="0" marL="0" rtl="0" algn="l">
              <a:spcBef>
                <a:spcPts val="1200"/>
              </a:spcBef>
              <a:spcAft>
                <a:spcPts val="1200"/>
              </a:spcAft>
              <a:buClr>
                <a:schemeClr val="dk1"/>
              </a:buClr>
              <a:buSzPct val="61111"/>
              <a:buFont typeface="Arial"/>
              <a:buNone/>
            </a:pPr>
            <a:r>
              <a:t/>
            </a:r>
            <a:endParaRPr>
              <a:solidFill>
                <a:schemeClr val="dk1"/>
              </a:solidFill>
            </a:endParaRPr>
          </a:p>
        </p:txBody>
      </p:sp>
      <p:pic>
        <p:nvPicPr>
          <p:cNvPr id="146" name="Google Shape;146;p27"/>
          <p:cNvPicPr preferRelativeResize="0"/>
          <p:nvPr/>
        </p:nvPicPr>
        <p:blipFill>
          <a:blip r:embed="rId3">
            <a:alphaModFix/>
          </a:blip>
          <a:stretch>
            <a:fillRect/>
          </a:stretch>
        </p:blipFill>
        <p:spPr>
          <a:xfrm>
            <a:off x="7132475" y="2315150"/>
            <a:ext cx="1767625" cy="2961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zh-TW"/>
              <a:t>Future work</a:t>
            </a:r>
            <a:endParaRPr/>
          </a:p>
        </p:txBody>
      </p:sp>
      <p:sp>
        <p:nvSpPr>
          <p:cNvPr id="152" name="Google Shape;15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solidFill>
                  <a:schemeClr val="dk1"/>
                </a:solidFill>
              </a:rPr>
              <a:t>This program may misjudge when testing untrained Chinese characters, as shown in the picture below, but we can add more Chinese characters to the training data set to achieve the goals written in our conclusion. and solve this problem. But this is the only way we can think of right now.</a:t>
            </a:r>
            <a:endParaRPr>
              <a:solidFill>
                <a:schemeClr val="dk1"/>
              </a:solidFill>
            </a:endParaRPr>
          </a:p>
        </p:txBody>
      </p:sp>
      <p:pic>
        <p:nvPicPr>
          <p:cNvPr id="153" name="Google Shape;153;p28"/>
          <p:cNvPicPr preferRelativeResize="0"/>
          <p:nvPr/>
        </p:nvPicPr>
        <p:blipFill>
          <a:blip r:embed="rId3">
            <a:alphaModFix/>
          </a:blip>
          <a:stretch>
            <a:fillRect/>
          </a:stretch>
        </p:blipFill>
        <p:spPr>
          <a:xfrm>
            <a:off x="5502950" y="2195300"/>
            <a:ext cx="2436150" cy="28383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